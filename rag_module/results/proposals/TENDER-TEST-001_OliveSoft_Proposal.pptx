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APPEL D'OFFRES N° TENDER-TEST-001 — OFFRE TECHNIQUE &amp; FINANCIÈRE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Migration du système bancaire vers microservices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1FAE5"/>
                </a:solidFill>
              </a:defRPr>
            </a:pPr>
            <a:r>
              <a:t>Préparé par OliveSoft pour : Banque Centrale de Tunisie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DURÉE GLOBALE DU PROJET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14 Semaines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5 Phases d'exécution ordonnancées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BUDGET TOTAL ESTIMÉ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77,224.00 TND HT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Inclut buffer de contingence (12%)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INDICE DE COUVERTURE RAG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95% Fit Score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Adéquation prouvée aux compétences OliveSoft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ANALYSE DU BESOIN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Compréhension du Contexte &amp; Objectifs Stratégiques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Défis &amp; Problématiques Identifiés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Systèmes existants hétérogènes ou monolithiques limitant l'évolutivité métier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Processus manuels chronophages et risques accrus d'erreurs de saisie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Manque de visibilité analytique et de reporting en temps réel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Exigences de sécurité et de résilience réglementaires renforcées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120640" cy="484632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462B"/>
                </a:solidFill>
              </a:defRPr>
            </a:pPr>
            <a:r>
              <a:t>Objectifs Métier &amp; Bénéfices Attendus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Moderniser le système d'information de Banque Centrale de Tunisie selon les standards de l'industrie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Garantir une haute disponibilité et une scalabilité face aux montées en charge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Réduire les coûts d'exploitation et optimiser les temps de réponse utilisateurs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Assurer la souveraineté et la conformité stricte des données hébergées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SOLUTION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Architecture Technique Cible &amp; Stack Recommandée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0515600" cy="10058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258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ARCHITECTURE MICROSERVICES DISTRIBUÉE &amp; CLOUD-NATIVE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OliveSoft propose une solution robuste, scalable et hautement disponible, fondée sur une Architecture Microservices Distribuée &amp; Cloud-Native. Notre approche garantit une intégration fluide, une sécurité sans compromis et un transfert de compétences complet.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Backend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Java 21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Spring Boot 3.3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Spring Cloud Gateway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Kafka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Frontend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React 18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TypeScript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TailwindCSS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Base de données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PostgreSQL 16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Redis Cluster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0536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DevOps / Cloud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Docker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Kubernetes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GitLab CI/CD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Prometheus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MÉTHODOLOGIE D'EXÉCUTION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Plan de Réalisation Pas-à-Pas (5 Phases)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1 (2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Cadrage, Architecture &amp; Inception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Dossier d'Architecture Technique (DAT)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Spécifications Fonctionnelles Détaillées (SFD)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Charte graphique et maquettes UX/UI validées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Ateliers d'alignement avec les parties prenantes métier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Validation des flux de données et des protocoles de sécurité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35224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35224" y="1325880"/>
            <a:ext cx="2011680" cy="777240"/>
          </a:xfrm>
          <a:prstGeom prst="roundRect">
            <a:avLst/>
          </a:prstGeom>
          <a:solidFill>
            <a:srgbClr val="3B6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2 (6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Développement Sprints &amp; Core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Modules applicatifs core testés en continu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Releases itératives bi-hebdomadaires (Démos Sprint)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APIs documentées et interconnectées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Sprints Agiles de 2 semaines avec Scrum Master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Revue de code systématique par l'Architecte Lead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3207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93207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7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3 (3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Intégration, Migration &amp; Recette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5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Rapport d'audit de sécurité et pentest interne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Rapport de tests de charge et performance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Scripts de migration des données validés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Tests end-to-end automatisés et validation de conformité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Tests de montée en charge simulée sous stress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51192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51192" y="1325880"/>
            <a:ext cx="2011680" cy="777240"/>
          </a:xfrm>
          <a:prstGeom prst="roundRect">
            <a:avLst/>
          </a:prstGeom>
          <a:solidFill>
            <a:srgbClr val="3B6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2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4 (2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Recette Utilisateur (UAT) &amp; Pilote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Procès-Verbal (PV) de recette provisoire signé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Guides utilisateurs et manuels d'administration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Programme de formation des administrateurs et utilisateurs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Accompagnement quotidien des équipes métiers lors de la recette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Correction prioritaire des anomalies résiduelles (SLA 24h)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09176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09176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0616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5 (1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Mise en Production &amp; Hypercare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Bascule en production (Go-Live) sans interruption de service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Procès-Verbal de recette définitive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Plan de maintenance préventive et corrective (SLA)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Déploiement supervisé 24/7 en environnement de production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Période de garantie et d'hypercare de 90 jours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PLANNING &amp;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Planning des Jalons &amp; Gouvernance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2286000"/>
                <a:gridCol w="274320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Jalon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 &amp; Activité Clé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Échéance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Livrable Validé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Cadrage, Architecture &amp; Inception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 à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Dossier d'Architecture Technique (DAT)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Développement Sprints &amp; Core Build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3 à 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Modules applicatifs core testés en continu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Intégration, Migration &amp; Recette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9 à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Rapport d'audit de sécurité et pentest interne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Recette Utilisateur (UAT) &amp; Pilote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12 à 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Procès-Verbal (PV) de recette provisoire signé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Mise en Production &amp; Hypercare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14 à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Bascule en production (Go-Live) sans interruption de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480560"/>
            <a:ext cx="10515600" cy="173736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Modèle de Gouvernance &amp; Rituels Agiles OliveSoft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Comité de Pilotage (COPIL) mensuel : Arbitrages stratégiques, validation des jalons et suivi budgétaire.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Comité Technique (COTEC) bi-hebdomadaire : Suivi opérationnel des sprints, démos de fonctionnalités et levée des bloquants.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Sprints de 2 semaines avec Daily Standup et rétrospectives d'amélioration continue.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RESSOURCES HUMAINES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Équipe Projet Dédiée (Roster Mobilisé)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2918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462B"/>
                </a:solidFill>
              </a:defRPr>
            </a:pPr>
            <a:r>
              <a:t>Mohamed Kacem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Java/Spring Architect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Titre : Java/Spring Architect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Référence CV : CV-003 (Certifié OliveSoft)</a:t>
            </a:r>
          </a:p>
          <a:p>
            <a:pPr>
              <a:spcBef>
                <a:spcPts val="1400"/>
              </a:spcBef>
              <a:defRPr sz="1100" b="1">
                <a:solidFill>
                  <a:srgbClr val="0F172A"/>
                </a:solidFill>
              </a:defRPr>
            </a:pPr>
            <a:r>
              <a:t>Compétences clés validées :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java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spring boot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kubernetes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microservices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2918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462B"/>
                </a:solidFill>
              </a:defRPr>
            </a:pPr>
            <a:r>
              <a:t>Ahmed Ben Ali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Senior Full-Stack Engineer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Titre : Senior Full-Stack Engineer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Référence CV : CV-001 (Certifié OliveSoft)</a:t>
            </a:r>
          </a:p>
          <a:p>
            <a:pPr>
              <a:spcBef>
                <a:spcPts val="1400"/>
              </a:spcBef>
              <a:defRPr sz="1100" b="1">
                <a:solidFill>
                  <a:srgbClr val="0F172A"/>
                </a:solidFill>
              </a:defRPr>
            </a:pPr>
            <a:r>
              <a:t>Compétences clés validées :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react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docker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PROPOSITION COMMERCIALE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Offre Financière &amp; Décomposition Budgétaire (TND)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25880"/>
          <a:ext cx="74980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  <a:gridCol w="1188720"/>
                <a:gridCol w="1645920"/>
              </a:tblGrid>
              <a:tr h="538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Profil &amp; Rôle d'Expertise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Taux J/H (TND)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Jours-H (J/H)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HT (TND)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Lead Solutions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850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16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13,600.00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Senior Full-Stack Engineer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650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48 j/h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31,200.00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Cloud &amp; DevOps Specialist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14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9,800.00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QA &amp; Test Automation Engineer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550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13 j/h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7,150.00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Agile Project Manager (PMP/Scrum)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12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7,200.00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Sous-total Prestations d'Ingénierie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68,950.00 TND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t>Provision pour Risques &amp; Imprévus (12%)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8,274.00 TND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TOTAL FORFAIT PROPOSITION (TND HT)</a:t>
                      </a:r>
                    </a:p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D97706"/>
                          </a:solidFill>
                        </a:defRPr>
                      </a:pPr>
                      <a:r>
                        <a:t>77,224.00 TND</a:t>
                      </a:r>
                    </a:p>
                  </a:txBody>
                  <a:tcPr>
                    <a:solidFill>
                      <a:srgbClr val="3B6E4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325880"/>
            <a:ext cx="2834640" cy="484632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50876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Garantie &amp; Support SLA</a:t>
            </a:r>
          </a:p>
          <a:p>
            <a:pPr>
              <a:spcBef>
                <a:spcPts val="800"/>
              </a:spcBef>
              <a:defRPr sz="950"/>
            </a:pPr>
            <a:r>
              <a:t>• Garantie 90 jours offerte : Prise en charge intégrale des anomalies post-lancement.</a:t>
            </a:r>
          </a:p>
          <a:p>
            <a:pPr>
              <a:spcBef>
                <a:spcPts val="1000"/>
              </a:spcBef>
              <a:defRPr sz="950"/>
            </a:pPr>
            <a:r>
              <a:t>• Maintenance SLA annuelle (Option) :</a:t>
            </a:r>
            <a:br/>
            <a:r>
              <a:t>  11,583.60 TND HT / an (Support N2/N3, correctifs de sécurité, astreinte 4h).</a:t>
            </a:r>
          </a:p>
          <a:p>
            <a:pPr>
              <a:spcBef>
                <a:spcPts val="1200"/>
              </a:spcBef>
              <a:defRPr sz="850">
                <a:solidFill>
                  <a:srgbClr val="64748B"/>
                </a:solidFill>
              </a:defRPr>
            </a:pPr>
            <a:r>
              <a:t>Conditions de paiement :</a:t>
            </a:r>
            <a:br/>
            <a:r>
              <a:t>- 30% au démarrage (Phase 1)</a:t>
            </a:r>
            <a:br/>
            <a:r>
              <a:t>- 30% recette intermédiaire (Phase 3)</a:t>
            </a:r>
            <a:br/>
            <a:r>
              <a:t>- 30% recette UAT (Phase 4)</a:t>
            </a:r>
            <a:br/>
            <a:r>
              <a:t>- 10% procès-verbal définitif.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ENGAGEMENTS &amp; CLÔTURE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Matrice des Risques, Engagements &amp; 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640080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Maîtrise des Risques Opérationnels &amp; Techniques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Complexité d'intégration avec l'infrastructure et les bases existantes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Phase de cadrage approfondie (Phase 1) avec cartographie détaillée des interfaces et tests de connecteurs préliminaires.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Glissement de périmètre fonctionnel en cours de projet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Gestion agile en sprints de 2 semaines avec backlog priorisé, arbitrage hebdomadaire et suivi strict par le Scrum Master.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Indisponibilité des utilisateurs clés pour la recette UAT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Planification anticipée des sessions de recette, mise à disposition de jeux de données préparés et guides pas-à-pas.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25880"/>
            <a:ext cx="3931920" cy="484632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6304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Engagements OliveSoft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Cession totale des droits de propriété intellectuelle (code source, DAT, SFD).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Disponibilité immédiate de l'équipe dès signature du contrat.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Audit de sécurité indépendant avant mise en production.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Assurance responsabilité civile professionnelle conforme aux exigences du cahier des charges.</a:t>
            </a:r>
          </a:p>
          <a:p>
            <a:pPr>
              <a:spcBef>
                <a:spcPts val="1600"/>
              </a:spcBef>
              <a:defRPr sz="950" b="1">
                <a:solidFill>
                  <a:srgbClr val="D1FAE5"/>
                </a:solidFill>
              </a:defRPr>
            </a:pPr>
            <a:r>
              <a:t>Contacts Équipe Commerciale :</a:t>
            </a:r>
            <a:br/>
            <a:r>
              <a:t>Email : contact@olivesoft.tn</a:t>
            </a:r>
            <a:br/>
            <a:r>
              <a:t>Tél : +216 71 000 000</a:t>
            </a:r>
            <a:br/>
            <a:r>
              <a:t>Tunis, Tunisie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