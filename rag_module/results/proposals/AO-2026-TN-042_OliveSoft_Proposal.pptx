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APPEL D'OFFRES N° AO-2026-TN-042 — OFFRE TECHNIQUE &amp;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Mise en place d'un système national d'information hospitalier et dossiers médicaux partagés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FAE5"/>
                </a:solidFill>
              </a:defRPr>
            </a:pPr>
            <a:r>
              <a:t>Préparé par OliveSoft pour : Ministère de la Santé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DURÉE GLOBALE DU PROJET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18 Semaines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5 Phases d'exécution ordonnancées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BUDGET TOTAL ESTIMÉ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99,512.00 TND 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Inclut buffer de contingence (12%)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INDICE DE COUVERTURE RAG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100% Fit Score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Adéquation prouvée aux compétences OliveSoft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ANALYSE DU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Compréhension du Contexte &amp; Objectifs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Défis &amp; Problématiques Identifiés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Systèmes existants hétérogènes ou monolithiques limitant l'évolutivité métier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Processus manuels chronophages et risques accrus d'erreurs de saisie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Manque de visibilité analytique et de reporting en temps réel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Exigences de sécurité et de résilience réglementaires renforcées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20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462B"/>
                </a:solidFill>
              </a:defRPr>
            </a:pPr>
            <a:r>
              <a:t>Objectifs Métier &amp; Bénéfices Attendus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Moderniser le système d'information de Ministère de la Santé selon les standards de l'industrie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Garantir une haute disponibilité et une scalabilité face aux montées en charge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Réduire les coûts d'exploitation et optimiser les temps de réponse utilisateurs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Assurer la souveraineté et la conformité stricte des données hébergées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SOLUTION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Architecture Technique Cible &amp; Stack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10058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ARCHITECTURE WEB MODERNE MODULAIRE &amp; API-FIRST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OliveSoft propose une solution robuste, scalable et hautement disponible, fondée sur une Architecture Web Moderne Modulaire &amp; API-First. Notre approche garantit une intégration fluide, une sécurité sans compromis et un transfert de compétences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Backend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Python FastAPI / Django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Node.js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React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TypeScript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TailwindCSS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Base de données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PostgreSQL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Redis 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Infrastructure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Docker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Linux Ubuntu Server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CI/CD 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MÉTHODOLOGIE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 de Réalisation Pas-à-Pas (5 Phases)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1 (3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Cadrage, Architecture &amp;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Dossier d'Architecture Technique (DAT)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Spécifications Fonctionnelles Détaillées (SFD)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Charte graphique et maquettes UX/UI validées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Ateliers d'alignement avec les parties prenantes métier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Validation des flux de données et des protocoles de 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224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2 (8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Développement Sprints &amp;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Modules applicatifs core testés en continu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Releases itératives bi-hebdomadaires (Démos Sprint)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APIs documentées et interconnectées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Sprints Agiles de 2 semaines avec Scrum Master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Revue de code systématique par l'Architecte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3207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3 (4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Intégration, Migration &amp; Recette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5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d'audit de sécurité et pentest interne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de tests de charge et performance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Scripts de migration des données validés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end-to-end automatisés et validation de conformité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de montée en charge simulée sous stress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92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4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Recette Utilisateur (UAT) &amp; Pilote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(PV) de recette provisoire signé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Guides utilisateurs et manuels d'administration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Programme de formation des administrateurs et utilisateurs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Accompagnement quotidien des équipes métiers lors de la recette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Correction prioritaire des anomalies résiduelles (SLA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9176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5 (1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Mise en Production &amp; Hypercare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Bascule en production (Go-Live) sans interruption de service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de recette définitive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Plan de maintenance préventive et corrective (SLA)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Déploiement supervisé 24/7 en environnement de production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Période de garantie et d'hypercare de 90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PLANNING &amp;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Planning des Jalons &amp; Gouvernance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2860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Jalon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&amp; Activité Clé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Échéance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Livrable Validé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Cadrage, Architecture &amp; Inception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 à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Dossier d'Architecture Technique (DAT)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Développement Sprints &amp; Core Build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4 à 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Modules applicatifs core testés en continu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Intégration, Migration &amp; Recette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12 à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Rapport d'audit de sécurité et pentest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Recette Utilisateur (UAT) &amp; Pilote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16 à 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Procès-Verbal (PV) de recette provisoire signé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Mise en Production &amp; Hypercare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18 à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Bascule en production (Go-Live) sans interruption de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80560"/>
            <a:ext cx="105156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Modèle de Gouvernance &amp; Rituels Agiles OliveSoft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de Pilotage (COPIL) mensuel : Arbitrages stratégiques, validation des jalons et suivi budgétaire.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Technique (COTEC) bi-hebdomadaire : Suivi opérationnel des sprints, démos de fonctionnalités et levée des bloquants.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Sprints de 2 semaines avec Daily Standup et rétrospectives d'amélioration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RESSOURCES HUMAINES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Équipe Projet Dédiée (Roster Mobilisé)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Leila Nasr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Information Security Analyst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Information Security Analyst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CV-021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Offre Financière &amp; Décomposition Budgétaire (TND)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7498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188720"/>
                <a:gridCol w="1645920"/>
              </a:tblGrid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 &amp; Rôle d'Expertise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Taux J/H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Jours-H (J/H)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HT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Lead Solutions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850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20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17,000.00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Senior Full-Stack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62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40,300.00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&amp; DevOps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18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12,600.00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QA &amp; Test Automation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17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9,350.00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Agile Project Manager (PMP/Scrum)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9,600.00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Sous-total Prestations d'Ingénierie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88,850.00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t>Provision pour Risques &amp; Imprévus (12%)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10,662.00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TOTAL FORFAIT PROPOSITION (TND HT)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</a:defRPr>
                      </a:pPr>
                      <a:r>
                        <a:t>99,512.00 TND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325880"/>
            <a:ext cx="2834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087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Garantie &amp; Support SLA</a:t>
            </a:r>
          </a:p>
          <a:p>
            <a:pPr>
              <a:spcBef>
                <a:spcPts val="800"/>
              </a:spcBef>
              <a:defRPr sz="950"/>
            </a:pPr>
            <a:r>
              <a:t>• Garantie 90 jours offerte : Prise en charge intégrale des anomalies post-lancement.</a:t>
            </a:r>
          </a:p>
          <a:p>
            <a:pPr>
              <a:spcBef>
                <a:spcPts val="1000"/>
              </a:spcBef>
              <a:defRPr sz="950"/>
            </a:pPr>
            <a:r>
              <a:t>• Maintenance SLA annuelle (Option) :</a:t>
            </a:r>
            <a:br/>
            <a:r>
              <a:t>  14,926.80 TND HT / an (Support N2/N3, correctifs de sécurité, astreinte 4h).</a:t>
            </a:r>
          </a:p>
          <a:p>
            <a:pPr>
              <a:spcBef>
                <a:spcPts val="1200"/>
              </a:spcBef>
              <a:defRPr sz="850">
                <a:solidFill>
                  <a:srgbClr val="64748B"/>
                </a:solidFill>
              </a:defRPr>
            </a:pPr>
            <a:r>
              <a:t>Conditions de paiement :</a:t>
            </a:r>
            <a:br/>
            <a:r>
              <a:t>- 30% au démarrage (Phase 1)</a:t>
            </a:r>
            <a:br/>
            <a:r>
              <a:t>- 30% recette intermédiaire (Phase 3)</a:t>
            </a:r>
            <a:br/>
            <a:r>
              <a:t>- 30% recette UAT (Phase 4)</a:t>
            </a:r>
            <a:br/>
            <a:r>
              <a:t>- 10% procès-verbal définitif.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ENGAGEMENTS &amp;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Matrice des Risques, Engagements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64008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Maîtrise des Risques Opérationnels &amp; Techniques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Complexité d'intégration avec l'infrastructure et les bases existantes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Phase de cadrage approfondie (Phase 1) avec cartographie détaillée des interfaces et tests de connecteurs préliminaires.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Glissement de périmètre fonctionnel en cours de projet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Gestion agile en sprints de 2 semaines avec backlog priorisé, arbitrage hebdomadaire et suivi strict par le Scrum Master.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Indisponibilité des utilisateurs clés pour la recette UAT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Planification anticipée des sessions de recette, mise à disposition de jeux de données préparés et guides pas-à-pas.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3931920" cy="484632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Engagements OliveSoft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Cession totale des droits de propriété intellectuelle (code source, DAT, SFD).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Disponibilité immédiate de l'équipe dès signature du contrat.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Audit de sécurité indépendant avant mise en production.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Assurance responsabilité civile professionnelle conforme aux exigences du cahier des charges.</a:t>
            </a:r>
          </a:p>
          <a:p>
            <a:pPr>
              <a:spcBef>
                <a:spcPts val="1600"/>
              </a:spcBef>
              <a:defRPr sz="950" b="1">
                <a:solidFill>
                  <a:srgbClr val="D1FAE5"/>
                </a:solidFill>
              </a:defRPr>
            </a:pPr>
            <a:r>
              <a:t>Contacts Équipe Commerciale :</a:t>
            </a:r>
            <a:br/>
            <a:r>
              <a:t>Email : contact@olivesoft.tn</a:t>
            </a:r>
            <a:br/>
            <a:r>
              <a:t>Tél : +216 71 000 000</a:t>
            </a:r>
            <a:br/>
            <a:r>
              <a:t>Tunis, Tunisie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