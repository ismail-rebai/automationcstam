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93192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APPEL D'OFFRES N° TENDER-004 — OFFRE TECHNIQUE &amp; FINANCIÈRE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Mise en place d'un ERP SAP S/4HANA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1FAE5"/>
                </a:solidFill>
              </a:defRPr>
            </a:pPr>
            <a:r>
              <a:t>Préparé par OliveSoft pour : Groupe Industriel Exemple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251960"/>
            <a:ext cx="329184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43484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DURÉE GLOBALE DU PROJET</a:t>
            </a:r>
          </a:p>
          <a:p>
            <a:pPr>
              <a:defRPr sz="2200" b="1">
                <a:solidFill>
                  <a:srgbClr val="26462B"/>
                </a:solidFill>
              </a:defRPr>
            </a:pPr>
            <a:r>
              <a:t>14 Semaines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5 Phases d'exécution ordonnancées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251960"/>
            <a:ext cx="329184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443484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BUDGET TOTAL ESTIMÉ</a:t>
            </a:r>
          </a:p>
          <a:p>
            <a:pPr>
              <a:defRPr sz="2200" b="1">
                <a:solidFill>
                  <a:srgbClr val="26462B"/>
                </a:solidFill>
              </a:defRPr>
            </a:pPr>
            <a:r>
              <a:t>77,224.00 TND HT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Inclut buffer de contingence (12%)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4251960"/>
            <a:ext cx="329184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9" y="443484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INDICE DE COUVERTURE RAG</a:t>
            </a:r>
          </a:p>
          <a:p>
            <a:pPr>
              <a:defRPr sz="2200" b="1">
                <a:solidFill>
                  <a:srgbClr val="26462B"/>
                </a:solidFill>
              </a:defRPr>
            </a:pPr>
            <a:r>
              <a:t>100% Fit Score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Adéquation prouvée aux compétences OliveSoft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ANALYSE DU BESOIN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Compréhension du Contexte &amp; Objectifs Stratégiques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512064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Défis &amp; Problématiques Identifiés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 Systèmes existants hétérogènes ou monolithiques limitant l'évolutivité métier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 Processus manuels chronophages et risques accrus d'erreurs de saisie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 Manque de visibilité analytique et de reporting en temps réel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 Exigences de sécurité et de résilience réglementaires renforcées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120640" cy="4846320"/>
          </a:xfrm>
          <a:prstGeom prst="roundRect">
            <a:avLst/>
          </a:prstGeom>
          <a:solidFill>
            <a:srgbClr val="ECFDF5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6462B"/>
                </a:solidFill>
              </a:defRPr>
            </a:pPr>
            <a:r>
              <a:t>Objectifs Métier &amp; Bénéfices Attendus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✔  Moderniser le système d'information de Groupe Industriel Exemple selon les standards de l'industrie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✔  Garantir une haute disponibilité et une scalabilité face aux montées en charge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✔  Réduire les coûts d'exploitation et optimiser les temps de réponse utilisateurs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✔  Assurer la souveraineté et la conformité stricte des données hébergées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SOLUTION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Architecture Technique Cible &amp; Stack Recommandée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80160"/>
            <a:ext cx="10515600" cy="1005840"/>
          </a:xfrm>
          <a:prstGeom prst="round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32588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INTÉGRATION D'ENTREPRISE SAP S/4HANA &amp; EXTENSIONS CLOUD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OliveSoft propose une solution robuste, scalable et hautement disponible, fondée sur une Intégration d'Entreprise SAP S/4HANA &amp; Extensions Cloud. Notre approche garantit une intégration fluide, une sécurité sans compromis et un transfert de compétences complet.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14600"/>
            <a:ext cx="246888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ERP Core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SAP S/4HANA Cloud / On-Premise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ABAP RESTful Application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2514600"/>
            <a:ext cx="246888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26060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Intégration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SAP Integration Suite (BTP)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OData APIs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RFC / BAPI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2514600"/>
            <a:ext cx="246888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26060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Frontend / Fiori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SAP Fiori Elements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SAPUI5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0536" y="2514600"/>
            <a:ext cx="246888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97696" y="26060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Base de données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SAP HANA In-Memory 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MÉTHODOLOGIE D'EXÉCUTION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Plan de Réalisation Pas-à-Pas (5 Phases)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2011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2011680" cy="777240"/>
          </a:xfrm>
          <a:prstGeom prst="round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PHASE 1 (2 SEM.)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Cadrage, Architecture &amp; Inception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945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Livrables clés :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Dossier d'Architecture Technique (DAT)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Spécifications Fonctionnelles Détaillées (SFD)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Charte graphique et maquettes UX/UI validées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Activités :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Ateliers d'alignement avec les parties prenantes métier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Validation des flux de données et des protocoles de sécurité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35224" y="1325880"/>
            <a:ext cx="2011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35224" y="1325880"/>
            <a:ext cx="2011680" cy="777240"/>
          </a:xfrm>
          <a:prstGeom prst="roundRect">
            <a:avLst/>
          </a:prstGeom>
          <a:solidFill>
            <a:srgbClr val="3B6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26664" y="1371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PHASE 2 (6 SEM.)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Développement Sprints &amp; Core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21945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Livrables clés :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Modules applicatifs core testés en continu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Releases itératives bi-hebdomadaires (Démos Sprint)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APIs documentées et interconnectées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Activités :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Sprints Agiles de 2 semaines avec Scrum Master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Revue de code systématique par l'Architecte Lead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93207" y="1325880"/>
            <a:ext cx="2011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93207" y="1325880"/>
            <a:ext cx="2011680" cy="777240"/>
          </a:xfrm>
          <a:prstGeom prst="round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7" y="1371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PHASE 3 (3 SEM.)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Intégration, Migration &amp; Recette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2935" y="21945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Livrables clés :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Rapport d'audit de sécurité et pentest interne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Rapport de tests de charge et performance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Scripts de migration des données validés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Activités :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Tests end-to-end automatisés et validation de conformité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Tests de montée en charge simulée sous stress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51192" y="1325880"/>
            <a:ext cx="2011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51192" y="1325880"/>
            <a:ext cx="2011680" cy="777240"/>
          </a:xfrm>
          <a:prstGeom prst="roundRect">
            <a:avLst/>
          </a:prstGeom>
          <a:solidFill>
            <a:srgbClr val="3B6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42632" y="1371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PHASE 4 (2 SEM.)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Recette Utilisateur (UAT) &amp; Pilote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1945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Livrables clés :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Procès-Verbal (PV) de recette provisoire signé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Guides utilisateurs et manuels d'administration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Programme de formation des administrateurs et utilisateurs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Activités :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Accompagnement quotidien des équipes métiers lors de la recette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Correction prioritaire des anomalies résiduelles (SLA 24h)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09176" y="1325880"/>
            <a:ext cx="2011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409176" y="1325880"/>
            <a:ext cx="2011680" cy="777240"/>
          </a:xfrm>
          <a:prstGeom prst="round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0616" y="1371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PHASE 5 (1 SEM.)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Mise en Production &amp; Hypercare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18904" y="21945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Livrables clés :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Bascule en production (Go-Live) sans interruption de service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Procès-Verbal de recette définitive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Plan de maintenance préventive et corrective (SLA)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Activités :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Déploiement supervisé 24/7 en environnement de production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Période de garantie et d'hypercare de 90 jours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PLANNING &amp; PILOTAGE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Planning des Jalons &amp; Gouvernance du 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37160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114800"/>
                <a:gridCol w="2286000"/>
                <a:gridCol w="2743200"/>
              </a:tblGrid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Jalon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Phase &amp; Activité Clé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Échéance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Livrable Validé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Cadrage, Architecture &amp; Inception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Semaines 1 à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Dossier d'Architecture Technique (DAT)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Développement Sprints &amp; Core Build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Semaines 3 à 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Modules applicatifs core testés en continu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Intégration, Migration &amp; Recette QA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Semaines 9 à 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Rapport d'audit de sécurité et pentest interne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Recette Utilisateur (UAT) &amp; Pilote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Semaines 12 à 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Procès-Verbal (PV) de recette provisoire signé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Mise en Production &amp; Hypercare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Semaines 14 à 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Bascule en production (Go-Live) sans interruption de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4480560"/>
            <a:ext cx="10515600" cy="1737360"/>
          </a:xfrm>
          <a:prstGeom prst="roundRect">
            <a:avLst/>
          </a:prstGeom>
          <a:solidFill>
            <a:srgbClr val="ECFDF5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572000"/>
            <a:ext cx="10149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Modèle de Gouvernance &amp; Rituels Agiles OliveSoft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✔ Comité de Pilotage (COPIL) mensuel : Arbitrages stratégiques, validation des jalons et suivi budgétaire.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✔ Comité Technique (COTEC) bi-hebdomadaire : Suivi opérationnel des sprints, démos de fonctionnalités et levée des bloquants.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✔ Sprints de 2 semaines avec Daily Standup et rétrospectives d'amélioration continue.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RESSOURCES HUMAINES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Équipe Projet Dédiée (Roster Mobilisé)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329184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462B"/>
                </a:solidFill>
              </a:defRPr>
            </a:pPr>
            <a:r>
              <a:t>Karim Bouslama</a:t>
            </a:r>
          </a:p>
          <a:p>
            <a:pPr>
              <a:spcBef>
                <a:spcPts val="400"/>
              </a:spcBef>
              <a:defRPr sz="1100" b="1">
                <a:solidFill>
                  <a:srgbClr val="D97706"/>
                </a:solidFill>
              </a:defRPr>
            </a:pPr>
            <a:r>
              <a:t>SAP Functional Consultant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Titre : SAP Functional Consultant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Référence CV : CV-007 (Certifié OliveSoft)</a:t>
            </a:r>
          </a:p>
          <a:p>
            <a:pPr>
              <a:spcBef>
                <a:spcPts val="1400"/>
              </a:spcBef>
              <a:defRPr sz="1100" b="1">
                <a:solidFill>
                  <a:srgbClr val="0F172A"/>
                </a:solidFill>
              </a:defRPr>
            </a:pPr>
            <a:r>
              <a:t>Compétences clés validées 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29184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087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462B"/>
                </a:solidFill>
              </a:defRPr>
            </a:pPr>
            <a:r>
              <a:t>Rania Hammami</a:t>
            </a:r>
          </a:p>
          <a:p>
            <a:pPr>
              <a:spcBef>
                <a:spcPts val="400"/>
              </a:spcBef>
              <a:defRPr sz="1100" b="1">
                <a:solidFill>
                  <a:srgbClr val="D97706"/>
                </a:solidFill>
              </a:defRPr>
            </a:pPr>
            <a:r>
              <a:t>SAP Technical Consultant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Titre : SAP Technical Consultant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Référence CV : CV-008 (Certifié OliveSoft)</a:t>
            </a:r>
          </a:p>
          <a:p>
            <a:pPr>
              <a:spcBef>
                <a:spcPts val="1400"/>
              </a:spcBef>
              <a:defRPr sz="1100" b="1">
                <a:solidFill>
                  <a:srgbClr val="0F172A"/>
                </a:solidFill>
              </a:defRPr>
            </a:pPr>
            <a:r>
              <a:t>Compétences clés validées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PROPOSITION COMMERCIALE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Offre Financière &amp; Décomposition Budgétaire (TND)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325880"/>
          <a:ext cx="74980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371600"/>
                <a:gridCol w="1188720"/>
                <a:gridCol w="1645920"/>
              </a:tblGrid>
              <a:tr h="538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Profil &amp; Rôle d'Expertise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Taux J/H (TND)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Jours-H (J/H)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Total HT (TND)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Lead Solutions Architect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850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16 j/h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13,600.00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Senior Full-Stack Engineer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650 TND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48 j/h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31,200.00 TND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Cloud &amp; DevOps Specialist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700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14 j/h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9,800.00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QA &amp; Test Automation Engineer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550 TND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13 j/h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7,150.00 TND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Agile Project Manager (PMP/Scrum)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600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12 j/h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7,200.00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Sous-total Prestations d'Ingénierie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68,950.00 TND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r>
                        <a:t>Provision pour Risques &amp; Imprévus (12%)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8,274.00 TND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TOTAL FORFAIT PROPOSITION (TND HT)</a:t>
                      </a:r>
                    </a:p>
                  </a:txBody>
                  <a:tcPr>
                    <a:solidFill>
                      <a:srgbClr val="3B6E4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3B6E4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3B6E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D97706"/>
                          </a:solidFill>
                        </a:defRPr>
                      </a:pPr>
                      <a:r>
                        <a:t>77,224.00 TND</a:t>
                      </a:r>
                    </a:p>
                  </a:txBody>
                  <a:tcPr>
                    <a:solidFill>
                      <a:srgbClr val="3B6E4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03920" y="1325880"/>
            <a:ext cx="2834640" cy="4846320"/>
          </a:xfrm>
          <a:prstGeom prst="roundRect">
            <a:avLst/>
          </a:prstGeom>
          <a:solidFill>
            <a:srgbClr val="ECFDF5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1508760"/>
            <a:ext cx="2560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Garantie &amp; Support SLA</a:t>
            </a:r>
          </a:p>
          <a:p>
            <a:pPr>
              <a:spcBef>
                <a:spcPts val="800"/>
              </a:spcBef>
              <a:defRPr sz="950"/>
            </a:pPr>
            <a:r>
              <a:t>• Garantie 90 jours offerte : Prise en charge intégrale des anomalies post-lancement.</a:t>
            </a:r>
          </a:p>
          <a:p>
            <a:pPr>
              <a:spcBef>
                <a:spcPts val="1000"/>
              </a:spcBef>
              <a:defRPr sz="950"/>
            </a:pPr>
            <a:r>
              <a:t>• Maintenance SLA annuelle (Option) :</a:t>
            </a:r>
            <a:br/>
            <a:r>
              <a:t>  11,583.60 TND HT / an (Support N2/N3, correctifs de sécurité, astreinte 4h).</a:t>
            </a:r>
          </a:p>
          <a:p>
            <a:pPr>
              <a:spcBef>
                <a:spcPts val="1200"/>
              </a:spcBef>
              <a:defRPr sz="850">
                <a:solidFill>
                  <a:srgbClr val="64748B"/>
                </a:solidFill>
              </a:defRPr>
            </a:pPr>
            <a:r>
              <a:t>Conditions de paiement :</a:t>
            </a:r>
            <a:br/>
            <a:r>
              <a:t>- 30% au démarrage (Phase 1)</a:t>
            </a:r>
            <a:br/>
            <a:r>
              <a:t>- 30% recette intermédiaire (Phase 3)</a:t>
            </a:r>
            <a:br/>
            <a:r>
              <a:t>- 30% recette UAT (Phase 4)</a:t>
            </a:r>
            <a:br/>
            <a:r>
              <a:t>- 10% procès-verbal définitif.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ENGAGEMENTS &amp; CLÔTURE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Matrice des Risques, Engagements &amp; Prochaines Étapes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640080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Maîtrise des Risques Opérationnels &amp; Techniques</a:t>
            </a:r>
          </a:p>
          <a:p>
            <a:pPr>
              <a:spcBef>
                <a:spcPts val="1000"/>
              </a:spcBef>
              <a:defRPr sz="1000" b="1">
                <a:solidFill>
                  <a:srgbClr val="26462B"/>
                </a:solidFill>
              </a:defRPr>
            </a:pPr>
            <a:r>
              <a:t>Risque : Complexité d'intégration avec l'infrastructure et les bases existantes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Mitigation : Phase de cadrage approfondie (Phase 1) avec cartographie détaillée des interfaces et tests de connecteurs préliminaires.</a:t>
            </a:r>
          </a:p>
          <a:p>
            <a:pPr>
              <a:spcBef>
                <a:spcPts val="1000"/>
              </a:spcBef>
              <a:defRPr sz="1000" b="1">
                <a:solidFill>
                  <a:srgbClr val="26462B"/>
                </a:solidFill>
              </a:defRPr>
            </a:pPr>
            <a:r>
              <a:t>Risque : Glissement de périmètre fonctionnel en cours de projet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Mitigation : Gestion agile en sprints de 2 semaines avec backlog priorisé, arbitrage hebdomadaire et suivi strict par le Scrum Master.</a:t>
            </a:r>
          </a:p>
          <a:p>
            <a:pPr>
              <a:spcBef>
                <a:spcPts val="1000"/>
              </a:spcBef>
              <a:defRPr sz="1000" b="1">
                <a:solidFill>
                  <a:srgbClr val="26462B"/>
                </a:solidFill>
              </a:defRPr>
            </a:pPr>
            <a:r>
              <a:t>Risque : Indisponibilité des utilisateurs clés pour la recette UAT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Mitigation : Planification anticipée des sessions de recette, mise à disposition de jeux de données préparés et guides pas-à-pas.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325880"/>
            <a:ext cx="3931920" cy="4846320"/>
          </a:xfrm>
          <a:prstGeom prst="round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46304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Engagements OliveSoft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✔ Cession totale des droits de propriété intellectuelle (code source, DAT, SFD).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✔ Disponibilité immédiate de l'équipe dès signature du contrat.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✔ Audit de sécurité indépendant avant mise en production.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✔ Assurance responsabilité civile professionnelle conforme aux exigences du cahier des charges.</a:t>
            </a:r>
          </a:p>
          <a:p>
            <a:pPr>
              <a:spcBef>
                <a:spcPts val="1600"/>
              </a:spcBef>
              <a:defRPr sz="950" b="1">
                <a:solidFill>
                  <a:srgbClr val="D1FAE5"/>
                </a:solidFill>
              </a:defRPr>
            </a:pPr>
            <a:r>
              <a:t>Contacts Équipe Commerciale :</a:t>
            </a:r>
            <a:br/>
            <a:r>
              <a:t>Email : contact@olivesoft.tn</a:t>
            </a:r>
            <a:br/>
            <a:r>
              <a:t>Tél : +216 71 000 000</a:t>
            </a:r>
            <a:br/>
            <a:r>
              <a:t>Tunis, Tunisie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